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E8B9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Y2</c:v>
                  </c:pt>
                  <c:pt idx="6">
                    <c:v>Y3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345</c:v>
                </c:pt>
                <c:pt idx="1">
                  <c:v>828</c:v>
                </c:pt>
                <c:pt idx="2">
                  <c:v>2139</c:v>
                </c:pt>
                <c:pt idx="3">
                  <c:v>4554</c:v>
                </c:pt>
                <c:pt idx="4">
                  <c:v>8763</c:v>
                </c:pt>
                <c:pt idx="5">
                  <c:v>150000</c:v>
                </c:pt>
                <c:pt idx="6">
                  <c:v>417000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2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16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Users</c:v>
                </c:pt>
              </c:strCache>
            </c:strRef>
          </c:tx>
          <c:spPr>
            <a:solidFill>
              <a:srgbClr val="E8B923"/>
            </a:solidFill>
            <a:ln w="38100" cap="flat">
              <a:solidFill>
                <a:srgbClr val="E8B9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B923"/>
              </a:solidFill>
              <a:ln w="9525" cap="flat">
                <a:solidFill>
                  <a:srgbClr val="E8B9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</c:v>
                </c:pt>
                <c:pt idx="1">
                  <c:v>60</c:v>
                </c:pt>
                <c:pt idx="2">
                  <c:v>110</c:v>
                </c:pt>
                <c:pt idx="3">
                  <c:v>175</c:v>
                </c:pt>
                <c:pt idx="4">
                  <c:v>250</c:v>
                </c:pt>
                <c:pt idx="5">
                  <c:v>350</c:v>
                </c:pt>
                <c:pt idx="6">
                  <c:v>480</c:v>
                </c:pt>
                <c:pt idx="7">
                  <c:v>640</c:v>
                </c:pt>
                <c:pt idx="8">
                  <c:v>850</c:v>
                </c:pt>
                <c:pt idx="9">
                  <c:v>1100</c:v>
                </c:pt>
                <c:pt idx="10">
                  <c:v>1400</c:v>
                </c:pt>
                <c:pt idx="11">
                  <c:v>1800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2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16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7863840" cy="0"/>
          </a:xfrm>
          <a:prstGeom prst="line">
            <a:avLst/>
          </a:prstGeom>
          <a:noFill/>
          <a:ln w="1905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i V V i W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BUSINESS METAVERSE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7863840" cy="0"/>
          </a:xfrm>
          <a:prstGeom prst="line">
            <a:avLst/>
          </a:prstGeom>
          <a:noFill/>
          <a:ln w="19050">
            <a:solidFill>
              <a:srgbClr val="E8B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promised to run your business. Instead, it created more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54864" cy="658368"/>
          </a:xfrm>
          <a:prstGeom prst="rect">
            <a:avLst/>
          </a:prstGeom>
          <a:solidFill>
            <a:srgbClr val="E8353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039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LOSS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17320" y="23134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zero. Your AI has amnesia.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715768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715768"/>
            <a:ext cx="54864" cy="658368"/>
          </a:xfrm>
          <a:prstGeom prst="rect">
            <a:avLst/>
          </a:prstGeom>
          <a:solidFill>
            <a:srgbClr val="E8353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529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17320" y="3063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verification. No receipts. No trust.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465576"/>
            <a:ext cx="54864" cy="658368"/>
          </a:xfrm>
          <a:prstGeom prst="rect">
            <a:avLst/>
          </a:prstGeom>
          <a:solidFill>
            <a:srgbClr val="E8353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0273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417320" y="38130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tools, 10 logins, zero integration.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215384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215384"/>
            <a:ext cx="54864" cy="658368"/>
          </a:xfrm>
          <a:prstGeom prst="rect">
            <a:avLst/>
          </a:prstGeom>
          <a:solidFill>
            <a:srgbClr val="E8353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5254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288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GENERIC OUTPUT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417320" y="45628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bland results for every user. No personalization.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WiVViW is a premium, selective, AI-powered Business Metaverse.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gets a Digital Twin — an AI clone of themselves that autonomously runs their business: calls, meetings, emails, branding, operations, legal protection, &amp; web deployment. Powered by a multi-LLM orchestration engine that eliminates hallucination through verification &amp; receipts.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43200"/>
            <a:ext cx="54864" cy="65836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90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Invite-only. AI interview vetting.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93008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93008"/>
            <a:ext cx="54864" cy="658368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84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has receipts. Glass Box scoring.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242816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242816"/>
            <a:ext cx="54864" cy="658368"/>
          </a:xfrm>
          <a:prstGeom prst="rect">
            <a:avLst/>
          </a:prstGeom>
          <a:solidFill>
            <a:srgbClr val="22B57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LLMs cross-check every output. Zero hallucination.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7-ENGINE GALAXY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1828800" cy="10058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54864" cy="100584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dRANb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Architect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naming &amp; brand architecture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1828800" cy="10058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234440"/>
            <a:ext cx="54864" cy="1005840"/>
          </a:xfrm>
          <a:prstGeom prst="rect">
            <a:avLst/>
          </a:prstGeom>
          <a:solidFill>
            <a:srgbClr val="99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1600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Landgrab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handle &amp; identity consolidation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1828800" cy="10058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234440"/>
            <a:ext cx="54864" cy="100584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3XEC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600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Dojo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finance &amp; wargaming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234440"/>
            <a:ext cx="1828800" cy="10058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1234440"/>
            <a:ext cx="54864" cy="1005840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4IELD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1600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&amp; competitive mapping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0" y="2423160"/>
            <a:ext cx="1828800" cy="10058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423160"/>
            <a:ext cx="54864" cy="1005840"/>
          </a:xfrm>
          <a:prstGeom prst="rect">
            <a:avLst/>
          </a:prstGeom>
          <a:solidFill>
            <a:srgbClr val="E83535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3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4TRESS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Citadel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defense &amp; brand protection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2423160"/>
            <a:ext cx="1828800" cy="10058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2423160"/>
            <a:ext cx="54864" cy="1005840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5ITE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4048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Construct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website builder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2423160"/>
            <a:ext cx="1828800" cy="10058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2423160"/>
            <a:ext cx="54864" cy="100584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6ROXY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216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Front Office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&amp; Agent-to-Agent protocol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V4ULT — Immutable decision ledger. Every action has a receipt.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 Brand. Become.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MOIRAI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Orchestration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passes through 3 AI models. No single point of failure.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2377440" cy="201168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54864" cy="201168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CLOTHO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GPT-5.2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2834640"/>
            <a:ext cx="19202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creative output.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ideation.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23774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83280" y="1737360"/>
            <a:ext cx="2377440" cy="201168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737360"/>
            <a:ext cx="54864" cy="2011680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LACHESIS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Gemini 2.5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11880" y="2834640"/>
            <a:ext cx="19202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reality-check.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blind spots.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79008" y="23774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2377440" cy="201168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737360"/>
            <a:ext cx="54864" cy="2011680"/>
          </a:xfrm>
          <a:prstGeom prst="rect">
            <a:avLst/>
          </a:prstGeom>
          <a:solidFill>
            <a:srgbClr val="99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9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EUNOIA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2560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4.6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834640"/>
            <a:ext cx="19202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&amp; polish.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 utility layer handles routing, classification &amp; bulk operations at 10x lower cost.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KERNEL  |  Every claim verified by quorum (3+ sources agree = Verified)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5-PILLAR MOAT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65836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2161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GLASS BOX SCORING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49047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has an explanation &amp; confidence level. Nothing is a black box.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892808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892808"/>
            <a:ext cx="54864" cy="65836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19659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VAULT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2402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convert AI estimates into verified claims. Trust is earned, not assumed.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642616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642616"/>
            <a:ext cx="54864" cy="65836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7340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271576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V4ULT TIMELINE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99008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Lock, branch &amp; diff every decision. Complete audit trail. Immutable receipts.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392424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92424"/>
            <a:ext cx="54864" cy="65836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4838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4655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RITUALIZED WORKFLOWS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373989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procedural UX reduces founder anxiety &amp; regret. The opposite of chaotic AI chat.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42232"/>
            <a:ext cx="7863840" cy="658368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142232"/>
            <a:ext cx="54864" cy="658368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233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42153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 CONSTELLATION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48970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engines feel distinct but share one DNA (Brand Genome). Scales without complexity.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2377440" cy="155448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155448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$184B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business tools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377440" cy="155448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234440"/>
            <a:ext cx="54864" cy="1554480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$28B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1188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AI SaaS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&amp; founders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377440" cy="155448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234440"/>
            <a:ext cx="54864" cy="1554480"/>
          </a:xfrm>
          <a:prstGeom prst="rect">
            <a:avLst/>
          </a:prstGeom>
          <a:solidFill>
            <a:srgbClr val="22B573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2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$850M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636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AI OS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builders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 commerce is the 2026 standard — WiVViW is native to 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38728"/>
            <a:ext cx="109728" cy="109728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47472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(A2A) commerce is the 2026 standard — WiVViW is native to 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costs dropped 90% in 18 months — multi-model orchestration is now viable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50208"/>
            <a:ext cx="109728" cy="109728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88620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costs dropped 90% in 18 months — multi-model orchestration is now viable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33M new businesses formed in 2025 — each one needs naming, branding &amp; ops infrastructure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361688"/>
            <a:ext cx="109728" cy="109728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29768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33M new businesses formed in 2025 — each one needs naming, branding &amp; ops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REVENUE STREAMS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" y="1143000"/>
            <a:ext cx="2496312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143000"/>
            <a:ext cx="54864" cy="137160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" y="1280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SUBSCRIPTIONS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5820" y="1600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/ Squad / Empire tiers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5820" y="21305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$39K Y1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23844" y="1143000"/>
            <a:ext cx="2496312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3844" y="1143000"/>
            <a:ext cx="54864" cy="1371600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5012" y="1280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FOUNDRY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5012" y="1600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equity: submit idea, we build, you earn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5012" y="21305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$50K Y1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03036" y="1143000"/>
            <a:ext cx="2496312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03036" y="1143000"/>
            <a:ext cx="54864" cy="1371600"/>
          </a:xfrm>
          <a:prstGeom prst="rect">
            <a:avLst/>
          </a:prstGeom>
          <a:solidFill>
            <a:srgbClr val="9966CC"/>
          </a:solidFill>
          <a:ln/>
        </p:spPr>
      </p:sp>
      <p:sp>
        <p:nvSpPr>
          <p:cNvPr id="17" name="Text 15"/>
          <p:cNvSpPr/>
          <p:nvPr/>
        </p:nvSpPr>
        <p:spPr>
          <a:xfrm>
            <a:off x="6204204" y="1280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WHITE-LABEL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4204" y="1600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$999/mo + $49/seat franchise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4204" y="21305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$120K Y1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" y="2697480"/>
            <a:ext cx="2496312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" y="2697480"/>
            <a:ext cx="54864" cy="1371600"/>
          </a:xfrm>
          <a:prstGeom prst="rect">
            <a:avLst/>
          </a:prstGeom>
          <a:solidFill>
            <a:srgbClr val="22B573"/>
          </a:solidFill>
          <a:ln/>
        </p:spPr>
      </p:sp>
      <p:sp>
        <p:nvSpPr>
          <p:cNvPr id="22" name="Text 20"/>
          <p:cNvSpPr/>
          <p:nvPr/>
        </p:nvSpPr>
        <p:spPr>
          <a:xfrm>
            <a:off x="845820" y="2834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" y="31546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Pulse, Startup Radar, Custom Intel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5820" y="3685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$40K Y1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23844" y="2697480"/>
            <a:ext cx="2496312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23844" y="2697480"/>
            <a:ext cx="54864" cy="137160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27" name="Text 25"/>
          <p:cNvSpPr/>
          <p:nvPr/>
        </p:nvSpPr>
        <p:spPr>
          <a:xfrm>
            <a:off x="3525012" y="2834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VERTICAL EDITIONS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5012" y="31546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Estate, Restaurants, Coaches, Creators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5012" y="3685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$30K Y1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03036" y="2697480"/>
            <a:ext cx="2496312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03036" y="2697480"/>
            <a:ext cx="54864" cy="1371600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32" name="Text 30"/>
          <p:cNvSpPr/>
          <p:nvPr/>
        </p:nvSpPr>
        <p:spPr>
          <a:xfrm>
            <a:off x="6204204" y="2834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MERCH STORE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04204" y="31546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Printful/Vistaprint API dropshipping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04204" y="3685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$75K Y1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YEAR 1 PROJECTED REVENUE:  $354,123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2468880" cy="301752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301752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9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Trust-building 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210312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517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project/mo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dRANb runs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 exports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voice/face clone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143000"/>
            <a:ext cx="2468880" cy="301752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143000"/>
            <a:ext cx="54864" cy="301752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$49/mo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5204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driver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2514600"/>
            <a:ext cx="210312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6517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dRANb + brandL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3XEC + 6ROXY clone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enabled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 store (10% off)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468880" cy="301752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143000"/>
            <a:ext cx="54864" cy="3017520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$199/mo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514600"/>
            <a:ext cx="210312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6517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engines unlocked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4IELD + 4TRESS + 5ITE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6ROXY A2A protocol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Night Lounge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Add-ons: Real Estate $29/mo  |  Restaurants $49/mo  |  Coaches $39/mo  |  Creators $29/mo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3-YEAR FINANCIAL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2377440" cy="16916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43000"/>
            <a:ext cx="54864" cy="169164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$354K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$8.7K  |  Users: 285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542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143000"/>
            <a:ext cx="2377440" cy="16916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143000"/>
            <a:ext cx="54864" cy="169164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$1.8M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$150K  |  Users: 3,500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542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VIRAL LOOP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377440" cy="169164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143000"/>
            <a:ext cx="54864" cy="169164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$5.0M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MRR: $417K  |  Users: 15,000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542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DOMINANCE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" y="3108960"/>
          <a:ext cx="786384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GO-TO-MARKET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7863840" cy="1078992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1078992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527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1280160"/>
            <a:ext cx="0" cy="77724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52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 Launch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5544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 (10 industries x 10 niches)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AI interview vetting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engines: dRANb + brandL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313432"/>
            <a:ext cx="7863840" cy="1078992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313432"/>
            <a:ext cx="54864" cy="1078992"/>
          </a:xfrm>
          <a:prstGeom prst="rect">
            <a:avLst/>
          </a:prstGeom>
          <a:solidFill>
            <a:srgbClr val="2DB8A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DB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660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2450592"/>
            <a:ext cx="0" cy="77724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23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272491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7-engine suite live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program launch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editions activated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483864"/>
            <a:ext cx="7863840" cy="1078992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83864"/>
            <a:ext cx="54864" cy="1078992"/>
          </a:xfrm>
          <a:prstGeom prst="rect">
            <a:avLst/>
          </a:prstGeom>
          <a:solidFill>
            <a:srgbClr val="22B57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935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B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831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86000" y="3621024"/>
            <a:ext cx="0" cy="77724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593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0320" y="389534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public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 marketplace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Reports data product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 LinkedIn Video Ads (40%)  |  Niche Podcasts (30%)  |  Competitor Search (30%)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ECONOMICS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828800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137160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avg (Squad + Empire)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143000"/>
            <a:ext cx="1828800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143000"/>
            <a:ext cx="54864" cy="137160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234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889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AI cost structure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828800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143000"/>
            <a:ext cx="54864" cy="137160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234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0060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$2.5-5K/mo ad spend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143000"/>
            <a:ext cx="1828800" cy="137160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1143000"/>
            <a:ext cx="54864" cy="137160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234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LTV:CAC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12:1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1228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retention, low churn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1 GROWTH TRAJECTORY</a:t>
            </a:r>
            <a:endParaRPr lang="en-US" sz="12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0080" y="3108960"/>
          <a:ext cx="78638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combines all seven capabilities into a single, orchestrated, trust-first platform.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70432"/>
                <a:gridCol w="1170432"/>
                <a:gridCol w="1170432"/>
                <a:gridCol w="1170432"/>
                <a:gridCol w="11704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B9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WiVViW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Jasper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Namelix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ChatGPT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LegalZoom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Naming Engine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Multi-LLM Orchestration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Twin / Avatar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Protection Signals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Receipts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 Protocol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Builder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B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83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6350">
            <a:solidFill>
              <a:srgbClr val="23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solidFill>
            <a:srgbClr val="12161F"/>
          </a:solidFill>
          <a:ln w="6350">
            <a:solidFill>
              <a:srgbClr val="23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54864" cy="1097280"/>
          </a:xfrm>
          <a:prstGeom prst="rect">
            <a:avLst/>
          </a:prstGeom>
          <a:solidFill>
            <a:srgbClr val="E8B9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$500K — $1M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|  SAFE / Equity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308152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team, multi-LLM infrastructure, 7-engine build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844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ads, podcast sponsorships, competitor 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AI/ML Costs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408736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spend, voice cloning, avatar generation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389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5902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Supabase/Vercel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7863840" cy="0"/>
          </a:xfrm>
          <a:prstGeom prst="line">
            <a:avLst/>
          </a:prstGeom>
          <a:noFill/>
          <a:ln w="19050">
            <a:solidFill>
              <a:srgbClr val="E8B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i V V i 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E8B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Build. Brand. Become.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19050">
            <a:solidFill>
              <a:srgbClr val="E8B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Vision  |  oracle@wivviw.com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the product. If it's not visible, it's not trustworthy.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WiVViW — The Business Metaverse</dc:title>
  <dc:subject>PptxGenJS Presentation</dc:subject>
  <dc:creator>Oracle Vision</dc:creator>
  <cp:lastModifiedBy>Oracle Vision</cp:lastModifiedBy>
  <cp:revision>1</cp:revision>
  <dcterms:created xsi:type="dcterms:W3CDTF">2026-03-13T03:34:54Z</dcterms:created>
  <dcterms:modified xsi:type="dcterms:W3CDTF">2026-03-13T03:34:54Z</dcterms:modified>
</cp:coreProperties>
</file>