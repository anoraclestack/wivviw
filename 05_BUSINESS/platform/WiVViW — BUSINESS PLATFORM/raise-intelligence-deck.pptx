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828800"/>
            <a:ext cx="640080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INTELLIGENCE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Founder Financing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Layer Nobody Owns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&amp; Innovation Roadmap —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drown in disconnected tabs before and during a raise.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438912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50876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scenario modeling and dilution math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7863840" cy="438912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39112"/>
            <a:ext cx="54864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3911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039112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scattered data room documents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69464"/>
            <a:ext cx="7863840" cy="438912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569464"/>
            <a:ext cx="54864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6946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569464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investor communications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099816"/>
            <a:ext cx="7863840" cy="438912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099816"/>
            <a:ext cx="54864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9981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099816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compliance question at $500/hr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7863840" cy="438912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30168"/>
            <a:ext cx="54864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301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DocSend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363016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deck tracking (separate login)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7863840" cy="438912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160520"/>
            <a:ext cx="54864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605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416052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cap table (no raise planning)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owns the end-to-end raise narrative.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Whitespace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51760" cy="3474720"/>
          </a:xfrm>
          <a:prstGeom prst="rect">
            <a:avLst/>
          </a:prstGeom>
          <a:solidFill>
            <a:srgbClr val="142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Table Admin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Carta, Pulley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for: 409A,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post-close compliance,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stakeholders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2103120" cy="182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pre-close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651760" cy="3474720"/>
          </a:xfrm>
          <a:prstGeom prst="rect">
            <a:avLst/>
          </a:prstGeom>
          <a:solidFill>
            <a:srgbClr val="142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/ Docs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Clerky, Ironclad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for: instrument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e-signatures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3200400"/>
            <a:ext cx="2103120" cy="182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from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2651760" cy="347472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for: speed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unified narrative,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risk-to-decision loop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200400"/>
            <a:ext cx="2103120" cy="182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doesn't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yet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replace the equity database. We own the 14-day execution loop before the close.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Category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286000"/>
          </a:xfrm>
          <a:prstGeom prst="rect">
            <a:avLst/>
          </a:prstGeom>
          <a:solidFill>
            <a:srgbClr val="0C1F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 that makes founders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about their raises — not just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administrators of their equity.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8404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4297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Marketing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8404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4297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Marketing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38404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4297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ICP (90-Day Focus)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840480" cy="3200400"/>
          </a:xfrm>
          <a:prstGeom prst="rect">
            <a:avLst/>
          </a:prstGeom>
          <a:solidFill>
            <a:srgbClr val="142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US-based, 1–2 founders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to Seed 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$250K–$3M via SAFE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Counsel: fractional / deal-by-deal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stack: spreadsheets + email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paying for Carta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840480" cy="3200400"/>
          </a:xfrm>
          <a:prstGeom prst="rect">
            <a:avLst/>
          </a:prstGeom>
          <a:solidFill>
            <a:srgbClr val="142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ANTI-ICP (EXCLUDE)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 holding companies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International-first complexity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Fund/LP primary users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full 409A + equity admin day 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"Spreadsheet + email chaos" — need investor-ready narrative fast, fear of missing compliance details.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14-Day Close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inevitable hero workflow across shipped routes.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017520"/>
          </a:xfrm>
          <a:prstGeom prst="rect">
            <a:avLst/>
          </a:prstGeom>
          <a:solidFill>
            <a:srgbClr val="142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the 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SAFE vs Note vs Priced.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dilution + runway calcs.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risk flags + exemption paths.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/scenarios → /playbook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97480" cy="3017520"/>
          </a:xfrm>
          <a:prstGeom prst="rect">
            <a:avLst/>
          </a:prstGeom>
          <a:solidFill>
            <a:srgbClr val="142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269748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the Packet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investor export.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+ numbers + risk + timeline.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drafts + talking points.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749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/documents → investor-export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697480" cy="3017520"/>
          </a:xfrm>
          <a:prstGeom prst="rect">
            <a:avLst/>
          </a:prstGeom>
          <a:solidFill>
            <a:srgbClr val="1424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371600"/>
            <a:ext cx="269748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the Close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calendar populated.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status tracked.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items assigned.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749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/filings → /offers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834640"/>
            <a:ext cx="27432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834640"/>
            <a:ext cx="27432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Shipped. Nobody Else Has.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65836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Exemption Path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0515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506(b)/506(c)/Reg CF validation tied to founder's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01368"/>
            <a:ext cx="7863840" cy="65836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01368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0136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Alert Generation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80136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Form D, blue sky, 83(b) deadlines from scenario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51176"/>
            <a:ext cx="7863840" cy="65836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51176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5117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Narrative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55117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export: story + numbers + risk + timeline + email drafts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00984"/>
            <a:ext cx="7863840" cy="65836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0098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Confidence-Scored Readiness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30098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raise-readiness % with specific missing-action guidance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7863840" cy="65836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050792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507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Counsel Gate Architecture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405079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'pause for legal review' at every risky output surface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not roadmap items. They exist in the codebase today.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will exist nowhere else in the market.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384048"/>
          </a:xfrm>
          <a:prstGeom prst="rect">
            <a:avLst/>
          </a:prstGeom>
          <a:solidFill>
            <a:srgbClr val="0C1F1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234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642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Stack Visualizer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664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664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48256"/>
            <a:ext cx="7863840" cy="384048"/>
          </a:xfrm>
          <a:prstGeom prst="rect">
            <a:avLst/>
          </a:prstGeom>
          <a:solidFill>
            <a:srgbClr val="F0EDE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0482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Dilution Timeline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0482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048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432304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43230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Sheet Translator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4323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816352"/>
            <a:ext cx="7863840" cy="384048"/>
          </a:xfrm>
          <a:prstGeom prst="rect">
            <a:avLst/>
          </a:prstGeom>
          <a:solidFill>
            <a:srgbClr val="F0EDE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163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Delta Map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8163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8163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00400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200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Mirror (Investability Score)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200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200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584448"/>
            <a:ext cx="7863840" cy="384048"/>
          </a:xfrm>
          <a:prstGeom prst="rect">
            <a:avLst/>
          </a:prstGeom>
          <a:solidFill>
            <a:srgbClr val="F0EDE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58444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Cost Calculator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5844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35844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968496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96849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Velocity Score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9684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9684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352544"/>
            <a:ext cx="7863840" cy="384048"/>
          </a:xfrm>
          <a:prstGeom prst="rect">
            <a:avLst/>
          </a:prstGeom>
          <a:solidFill>
            <a:srgbClr val="F0EDE5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3525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Cohort Benchmarks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3525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4352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concept addresses a pain point that zero competitors currently solve.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Competitors. Zero Own the Decision Layer.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Table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0058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(74.5%), Pulley, Eqvista, Cake, Ledgy, AngelList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0" y="1005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Post-close admin only. No raise orchestration.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7863840" cy="68580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FP&amp;A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7830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($20K+/yr), Finmark (dead), Mosaic (acquired)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7830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ops finance, not financing instruments.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7863840" cy="68580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603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560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($2K+/user), Visible, DocSend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560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pipeline, not financial decisions.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7863840" cy="68580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33375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Clerky ($819 lifetime), SeedLegals, Ironclad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337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docs. Doesn't model scenarios.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14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Room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41148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Datasite ($10K+), DealRoom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4114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M&amp;A. Absurd for seed stage.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decision layer of fundraising remains unbuilt.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Name Candidates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972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Closemark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66160" y="109728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close + precision benchmark. Two syllables. Immediately professional.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47088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4708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84708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Termvault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184708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terms + institutional security. Banking authority.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96896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59689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259689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Termsight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259689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insight into terms. Most descriptive of actual value.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346704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346704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3467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3467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Mintdeck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66160" y="334670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+ pristine quality. Most brandable and modern.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96512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096512"/>
            <a:ext cx="54864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09651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63040" y="409651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Accordly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66160" y="409651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agreement + modern SaaS suffix. Elegant and trustworthy.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5 domains are likely available or acquirable. Trademark risk: Low across the board.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Identity: The Private Bank Ledger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12 competitors use blue. 10 of 12 default to white backgrounds. We zig where they zag.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499616" cy="1005840"/>
          </a:xfrm>
          <a:prstGeom prst="rect">
            <a:avLst/>
          </a:prstGeom>
          <a:solidFill>
            <a:srgbClr val="0C1F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Forest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22576" y="1371600"/>
            <a:ext cx="1499616" cy="10058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22576" y="246888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22576" y="27432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05072" y="1371600"/>
            <a:ext cx="1499616" cy="1005840"/>
          </a:xfrm>
          <a:prstGeom prst="rect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05072" y="246888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Accent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05072" y="27432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87568" y="1371600"/>
            <a:ext cx="1499616" cy="1005840"/>
          </a:xfrm>
          <a:prstGeom prst="rect">
            <a:avLst/>
          </a:prstGeom>
          <a:solidFill>
            <a:srgbClr val="F4F1E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87568" y="246888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87568" y="27432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surface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70064" y="1371600"/>
            <a:ext cx="1499616" cy="100584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0064" y="2468880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Brass / Gold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70064" y="274320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3657600" cy="146304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657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Headings: Fraunces (serif)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Inter / DM Sans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JetBrains Mono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91840"/>
            <a:ext cx="3840480" cy="146304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layouts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marketing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86868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Gatekeepers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058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batch partnerships (YC model), startup law firm referrals (WSGR, Cooley), banking partnerships (Mercury, Brex)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86868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65960"/>
            <a:ext cx="54864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659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965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Content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9659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Build-in-public on X/LinkedIn, content SEO ("SAFE vs priced round"), founder communities (Indie Hackers, Discords)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7863840" cy="86868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926080"/>
            <a:ext cx="54864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260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9260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Tools (Growth Wedge)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9260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Simulator, Cap Table Health Check, Raise Readiness Assessment — all engineered for social sharing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7863840" cy="868680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886200"/>
            <a:ext cx="54864" cy="868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8862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38862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(Last)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ONLY after conversion funnel measured: waitlist → activate → export → retention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1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Build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MUST-SHIP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journey: Scenario → Risk → Export → Filings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page → tabbed layout (reduce cognitive load)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raise-readiness % + 'today's 3 actions'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Disclaimers + compliance copy on all outputs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 + 2-minute recorded demo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05840"/>
            <a:ext cx="274320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SHOULD-SHIP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(Meridian Labs) surfaced prominently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badges + methodology page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Beginner/Advanced mode parity audit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consolidation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005840"/>
            <a:ext cx="27432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WON'T-SHIP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Org/workspace model, file storage, CSV import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Webhooks, verticals, international, SOC 2 audit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C1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calc, investor portal, e-sign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7863840" cy="38404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960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0" y="960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7863840" cy="56692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treat exports as legal advice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41732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4173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Disclaimers + counsel-gate at every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75688"/>
            <a:ext cx="7863840" cy="56692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7568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as 'Carta killer' and failing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07568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207568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Ruthlessly position as pre-close decision cockpit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34056"/>
            <a:ext cx="7863840" cy="56692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73405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auth ambiguity (OpenAPI vs SECURITY)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73405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73405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in sprint 1; update both specs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92424"/>
            <a:ext cx="7863840" cy="56692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924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Single-owner model limits team virality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339242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39242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org/workspace in Q2 roadmap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50792"/>
            <a:ext cx="7863840" cy="566928"/>
          </a:xfrm>
          <a:prstGeom prst="rect">
            <a:avLst/>
          </a:prstGeom>
          <a:solidFill>
            <a:srgbClr val="14242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5079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accuracy vs Excel/Carta math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405079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405079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methodology; show 'Estimate' badges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that helps founders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their raise will capture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value than the tools that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merely record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566160"/>
            <a:ext cx="6400800" cy="27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Carta is where your cap table lives after you raise.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where your raise lives while you raise.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Raise Intelligence — Strategic Deck</dc:title>
  <dc:subject>PptxGenJS Presentation</dc:subject>
  <dc:creator>Oracle Vision</dc:creator>
  <cp:lastModifiedBy>Oracle Vision</cp:lastModifiedBy>
  <cp:revision>1</cp:revision>
  <dcterms:created xsi:type="dcterms:W3CDTF">2026-03-24T17:19:10Z</dcterms:created>
  <dcterms:modified xsi:type="dcterms:W3CDTF">2026-03-24T17:19:10Z</dcterms:modified>
</cp:coreProperties>
</file>